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erriweather Light"/>
      <p:regular r:id="rId12"/>
      <p:bold r:id="rId13"/>
      <p:italic r:id="rId14"/>
      <p:boldItalic r:id="rId15"/>
    </p:embeddedFont>
    <p:embeddedFont>
      <p:font typeface="Merriweath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Light-bold.fntdata"/><Relationship Id="rId12" Type="http://schemas.openxmlformats.org/officeDocument/2006/relationships/font" Target="fonts/Merriweather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Light-boldItalic.fntdata"/><Relationship Id="rId14" Type="http://schemas.openxmlformats.org/officeDocument/2006/relationships/font" Target="fonts/MerriweatherLight-italic.fntdata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241fb8e7c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241fb8e7c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241fb8e7c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241fb8e7c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241fb8e7c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241fb8e7c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241fb8e7c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241fb8e7c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241fb8e7c_0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241fb8e7c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241fb8e7c_0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241fb8e7c_0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document/d/1AyBWTQ3cmXsqFYFtjEXLYIxY3xR0HFjaQQzEm1UuuhI/edit?usp=sharing" TargetMode="External"/><Relationship Id="rId4" Type="http://schemas.openxmlformats.org/officeDocument/2006/relationships/hyperlink" Target="https://docs.google.com/document/d/1eVvHPsnowdQsrRt9GGML9y-WM7p6zAduqa-du3EICwg/edit?usp=sharing" TargetMode="External"/><Relationship Id="rId5" Type="http://schemas.openxmlformats.org/officeDocument/2006/relationships/hyperlink" Target="https://docs.google.com/document/d/1mrE-0sliKRmh8YuMizhh_Nuyu4jLXGghNTsere-J8_I/edit?usp=sharing" TargetMode="External"/><Relationship Id="rId6" Type="http://schemas.openxmlformats.org/officeDocument/2006/relationships/hyperlink" Target="https://docs.google.com/document/d/1iC1JnEXtGU6ne3s1QOmxHZ6oVUxMk16D0u6JTwfz_kc/edit?tab=t.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76600"/>
            <a:ext cx="8520600" cy="95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A </a:t>
            </a:r>
            <a:r>
              <a:rPr lang="en">
                <a:solidFill>
                  <a:srgbClr val="000000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UX Design Study</a:t>
            </a:r>
            <a:endParaRPr>
              <a:solidFill>
                <a:srgbClr val="000000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1306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59602"/>
                </a:solidFill>
                <a:latin typeface="Merriweather"/>
                <a:ea typeface="Merriweather"/>
                <a:cs typeface="Merriweather"/>
                <a:sym typeface="Merriweather"/>
              </a:rPr>
              <a:t>By Liz Langer</a:t>
            </a:r>
            <a:endParaRPr sz="1800">
              <a:solidFill>
                <a:srgbClr val="F5960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56" name="Google Shape;56;p13" title="Adobe - Logo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66538"/>
            <a:ext cx="2616651" cy="2616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Adobe - Logo 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5650" y="1766550"/>
            <a:ext cx="2616650" cy="261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Canva - Logo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3675" y="1766550"/>
            <a:ext cx="2616650" cy="261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825150" y="478350"/>
            <a:ext cx="2808000" cy="755700"/>
          </a:xfrm>
          <a:prstGeom prst="rect">
            <a:avLst/>
          </a:prstGeom>
          <a:ln cap="flat" cmpd="sng" w="19050">
            <a:solidFill>
              <a:srgbClr val="FFB1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60">
                <a:latin typeface="Merriweather"/>
                <a:ea typeface="Merriweather"/>
                <a:cs typeface="Merriweather"/>
                <a:sym typeface="Merriweather"/>
              </a:rPr>
              <a:t>The UX Research Method</a:t>
            </a:r>
            <a:endParaRPr b="1" sz="246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389600"/>
            <a:ext cx="3834900" cy="3247800"/>
          </a:xfrm>
          <a:prstGeom prst="rect">
            <a:avLst/>
          </a:prstGeom>
          <a:ln cap="flat" cmpd="sng" w="19050">
            <a:solidFill>
              <a:srgbClr val="FFB1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9602"/>
              </a:buClr>
              <a:buSzPts val="1800"/>
              <a:buFont typeface="Merriweather"/>
              <a:buChar char="★"/>
            </a:pPr>
            <a:r>
              <a:rPr lang="en" sz="1800">
                <a:latin typeface="Merriweather"/>
                <a:ea typeface="Merriweather"/>
                <a:cs typeface="Merriweather"/>
                <a:sym typeface="Merriweather"/>
              </a:rPr>
              <a:t>The UX Research Method is a study conducted by designers to understand user behaviors, needs, and motivators. </a:t>
            </a:r>
            <a:endParaRPr sz="18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59602"/>
              </a:buClr>
              <a:buSzPts val="1800"/>
              <a:buFont typeface="Merriweather"/>
              <a:buChar char="★"/>
            </a:pPr>
            <a:r>
              <a:rPr lang="en" sz="1800">
                <a:latin typeface="Merriweather"/>
                <a:ea typeface="Merriweather"/>
                <a:cs typeface="Merriweather"/>
                <a:sym typeface="Merriweather"/>
              </a:rPr>
              <a:t>It takes place by asking a series of questions about </a:t>
            </a:r>
            <a:r>
              <a:rPr lang="en" sz="1800">
                <a:latin typeface="Merriweather"/>
                <a:ea typeface="Merriweather"/>
                <a:cs typeface="Merriweather"/>
                <a:sym typeface="Merriweather"/>
              </a:rPr>
              <a:t>certain</a:t>
            </a:r>
            <a:r>
              <a:rPr lang="en" sz="1800">
                <a:latin typeface="Merriweather"/>
                <a:ea typeface="Merriweather"/>
                <a:cs typeface="Merriweather"/>
                <a:sym typeface="Merriweather"/>
              </a:rPr>
              <a:t> designs to a group of people. </a:t>
            </a:r>
            <a:endParaRPr sz="18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59602"/>
              </a:buClr>
              <a:buSzPts val="1800"/>
              <a:buFont typeface="Merriweather"/>
              <a:buChar char="★"/>
            </a:pPr>
            <a:r>
              <a:rPr lang="en" sz="1800">
                <a:latin typeface="Merriweather"/>
                <a:ea typeface="Merriweather"/>
                <a:cs typeface="Merriweather"/>
                <a:sym typeface="Merriweather"/>
              </a:rPr>
              <a:t>It is the act of gaining consumer feedback. </a:t>
            </a:r>
            <a:endParaRPr sz="18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5453075" y="478350"/>
            <a:ext cx="2808000" cy="755700"/>
          </a:xfrm>
          <a:prstGeom prst="rect">
            <a:avLst/>
          </a:prstGeom>
          <a:ln cap="flat" cmpd="sng" w="19050">
            <a:solidFill>
              <a:srgbClr val="FFB1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60">
                <a:latin typeface="Merriweather"/>
                <a:ea typeface="Merriweather"/>
                <a:cs typeface="Merriweather"/>
                <a:sym typeface="Merriweather"/>
              </a:rPr>
              <a:t>The Purpose of the UX Research</a:t>
            </a:r>
            <a:endParaRPr b="1" sz="246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4939625" y="1389600"/>
            <a:ext cx="3834900" cy="3247800"/>
          </a:xfrm>
          <a:prstGeom prst="rect">
            <a:avLst/>
          </a:prstGeom>
          <a:ln cap="flat" cmpd="sng" w="19050">
            <a:solidFill>
              <a:srgbClr val="FFB1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9602"/>
              </a:buClr>
              <a:buSzPts val="1700"/>
              <a:buFont typeface="Merriweather"/>
              <a:buChar char="★"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The purpose of this Method is to help best understand </a:t>
            </a: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consumer</a:t>
            </a: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 needs. 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F59602"/>
              </a:buClr>
              <a:buSzPts val="1700"/>
              <a:buFont typeface="Merriweather"/>
              <a:buChar char="★"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This research is often seen when designing a new website or web-based product for everyday consumer use. 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59602"/>
              </a:buClr>
              <a:buSzPts val="1700"/>
              <a:buFont typeface="Merriweather"/>
              <a:buChar char="★"/>
            </a:pP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The purpose is be able to design the most effective and user </a:t>
            </a: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friendly</a:t>
            </a: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 version of a </a:t>
            </a:r>
            <a:r>
              <a:rPr lang="en" sz="1700">
                <a:latin typeface="Merriweather"/>
                <a:ea typeface="Merriweather"/>
                <a:cs typeface="Merriweather"/>
                <a:sym typeface="Merriweather"/>
              </a:rPr>
              <a:t>product. 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179425" y="780025"/>
            <a:ext cx="2808000" cy="755700"/>
          </a:xfrm>
          <a:prstGeom prst="rect">
            <a:avLst/>
          </a:prstGeom>
          <a:ln cap="flat" cmpd="sng" w="19050">
            <a:solidFill>
              <a:srgbClr val="FFB1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 Light"/>
                <a:ea typeface="Merriweather Light"/>
                <a:cs typeface="Merriweather Light"/>
                <a:sym typeface="Merriweather Light"/>
              </a:rPr>
              <a:t>Chloe S.</a:t>
            </a:r>
            <a:endParaRPr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179425" y="1614025"/>
            <a:ext cx="2808000" cy="3179400"/>
          </a:xfrm>
          <a:prstGeom prst="rect">
            <a:avLst/>
          </a:prstGeom>
          <a:ln cap="flat" cmpd="sng" w="19050">
            <a:solidFill>
              <a:srgbClr val="FFB1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★"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Age: 20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★"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Gender: Female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★"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Occupation: </a:t>
            </a: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Sophomore</a:t>
            </a: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 </a:t>
            </a: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Duquesne</a:t>
            </a: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 Student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★"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Area of Study: Mass Media &amp; Design Focus studies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3167988" y="780025"/>
            <a:ext cx="2808000" cy="755700"/>
          </a:xfrm>
          <a:prstGeom prst="rect">
            <a:avLst/>
          </a:prstGeom>
          <a:ln cap="flat" cmpd="sng" w="19050">
            <a:solidFill>
              <a:srgbClr val="F596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 Light"/>
                <a:ea typeface="Merriweather Light"/>
                <a:cs typeface="Merriweather Light"/>
                <a:sym typeface="Merriweather Light"/>
              </a:rPr>
              <a:t>Allison H.</a:t>
            </a:r>
            <a:endParaRPr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67988" y="1614025"/>
            <a:ext cx="2808000" cy="3179400"/>
          </a:xfrm>
          <a:prstGeom prst="rect">
            <a:avLst/>
          </a:prstGeom>
          <a:ln cap="flat" cmpd="sng" w="19050">
            <a:solidFill>
              <a:srgbClr val="F596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★"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Age: 20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★"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Gender: Female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★"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Occupation: </a:t>
            </a: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Sophomore</a:t>
            </a: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 Penn State Student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★"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Area of Study: Engineering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75" name="Google Shape;75;p15"/>
          <p:cNvSpPr txBox="1"/>
          <p:nvPr>
            <p:ph type="title"/>
          </p:nvPr>
        </p:nvSpPr>
        <p:spPr>
          <a:xfrm>
            <a:off x="6156575" y="780025"/>
            <a:ext cx="2808000" cy="755700"/>
          </a:xfrm>
          <a:prstGeom prst="rect">
            <a:avLst/>
          </a:prstGeom>
          <a:ln cap="flat" cmpd="sng" w="19050">
            <a:solidFill>
              <a:srgbClr val="FFB1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 Light"/>
                <a:ea typeface="Merriweather Light"/>
                <a:cs typeface="Merriweather Light"/>
                <a:sym typeface="Merriweather Light"/>
              </a:rPr>
              <a:t>Mandy W. </a:t>
            </a:r>
            <a:endParaRPr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6156575" y="1614025"/>
            <a:ext cx="2808000" cy="3179400"/>
          </a:xfrm>
          <a:prstGeom prst="rect">
            <a:avLst/>
          </a:prstGeom>
          <a:ln cap="flat" cmpd="sng" w="19050">
            <a:solidFill>
              <a:srgbClr val="FFB1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★"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Age: 19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★"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Gender: Female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★"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Occupation: </a:t>
            </a: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Sophomore</a:t>
            </a: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 Kent State Student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★"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Area of Study: Nursing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179425" y="132325"/>
            <a:ext cx="6283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The Participants</a:t>
            </a:r>
            <a:endParaRPr b="1" sz="25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179425" y="780025"/>
            <a:ext cx="2808000" cy="755700"/>
          </a:xfrm>
          <a:prstGeom prst="rect">
            <a:avLst/>
          </a:prstGeom>
          <a:ln cap="flat" cmpd="sng" w="19050">
            <a:solidFill>
              <a:srgbClr val="F596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 Light"/>
                <a:ea typeface="Merriweather Light"/>
                <a:cs typeface="Merriweather Light"/>
                <a:sym typeface="Merriweather Light"/>
              </a:rPr>
              <a:t>Chloe S. </a:t>
            </a:r>
            <a:endParaRPr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179425" y="1614025"/>
            <a:ext cx="2808000" cy="3179400"/>
          </a:xfrm>
          <a:prstGeom prst="rect">
            <a:avLst/>
          </a:prstGeom>
          <a:ln cap="flat" cmpd="sng" w="19050">
            <a:solidFill>
              <a:srgbClr val="F596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★"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Liked all the designs. 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★"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Wished some had a little more contrast and clarity. 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★"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Overall, enjoyed the </a:t>
            </a: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aesthetics</a:t>
            </a: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. 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84" name="Google Shape;84;p16"/>
          <p:cNvSpPr txBox="1"/>
          <p:nvPr>
            <p:ph type="title"/>
          </p:nvPr>
        </p:nvSpPr>
        <p:spPr>
          <a:xfrm>
            <a:off x="3167988" y="780025"/>
            <a:ext cx="2808000" cy="755700"/>
          </a:xfrm>
          <a:prstGeom prst="rect">
            <a:avLst/>
          </a:prstGeom>
          <a:ln cap="flat" cmpd="sng" w="19050">
            <a:solidFill>
              <a:srgbClr val="FFB1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 Light"/>
                <a:ea typeface="Merriweather Light"/>
                <a:cs typeface="Merriweather Light"/>
                <a:sym typeface="Merriweather Light"/>
              </a:rPr>
              <a:t>Allison H.</a:t>
            </a:r>
            <a:endParaRPr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67988" y="1614025"/>
            <a:ext cx="2808000" cy="3179400"/>
          </a:xfrm>
          <a:prstGeom prst="rect">
            <a:avLst/>
          </a:prstGeom>
          <a:ln cap="flat" cmpd="sng" w="19050">
            <a:solidFill>
              <a:srgbClr val="FFB1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★"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Enjoyed all the </a:t>
            </a: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designs</a:t>
            </a: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. 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★"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Felt there was a lack of context in terms of my brand. 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★"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Overall, liked the content, but needed more information.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86" name="Google Shape;86;p16"/>
          <p:cNvSpPr txBox="1"/>
          <p:nvPr>
            <p:ph type="title"/>
          </p:nvPr>
        </p:nvSpPr>
        <p:spPr>
          <a:xfrm>
            <a:off x="6156575" y="780025"/>
            <a:ext cx="2808000" cy="755700"/>
          </a:xfrm>
          <a:prstGeom prst="rect">
            <a:avLst/>
          </a:prstGeom>
          <a:ln cap="flat" cmpd="sng" w="19050">
            <a:solidFill>
              <a:srgbClr val="F596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 Light"/>
                <a:ea typeface="Merriweather Light"/>
                <a:cs typeface="Merriweather Light"/>
                <a:sym typeface="Merriweather Light"/>
              </a:rPr>
              <a:t>Mandy W.</a:t>
            </a:r>
            <a:endParaRPr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6156575" y="1614025"/>
            <a:ext cx="2808000" cy="3179400"/>
          </a:xfrm>
          <a:prstGeom prst="rect">
            <a:avLst/>
          </a:prstGeom>
          <a:ln cap="flat" cmpd="sng" w="19050">
            <a:solidFill>
              <a:srgbClr val="F596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★"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Did not like the design colors. 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★"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Enjoyed the different approach to a simple </a:t>
            </a: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design</a:t>
            </a: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.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 Light"/>
              <a:buChar char="★"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Overall, enjoyed the </a:t>
            </a: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concept</a:t>
            </a: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, but suggested a different approach.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179425" y="132325"/>
            <a:ext cx="6283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The Participants’ Thoughts</a:t>
            </a:r>
            <a:endParaRPr b="1" sz="25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The Final Logo</a:t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4" name="Google Shape;94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95" name="Google Shape;95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ln cap="flat" cmpd="sng" w="19050">
            <a:solidFill>
              <a:srgbClr val="FFB1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5960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After </a:t>
            </a:r>
            <a:r>
              <a:rPr lang="en" sz="1500">
                <a:solidFill>
                  <a:srgbClr val="F5960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reviewing</a:t>
            </a:r>
            <a:r>
              <a:rPr lang="en" sz="1500">
                <a:solidFill>
                  <a:srgbClr val="F5960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 my interviewees’ feedback, I took the most liked logo and changed some of the features to create a more </a:t>
            </a:r>
            <a:r>
              <a:rPr lang="en" sz="1500">
                <a:solidFill>
                  <a:srgbClr val="F5960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clear</a:t>
            </a:r>
            <a:r>
              <a:rPr lang="en" sz="1500">
                <a:solidFill>
                  <a:srgbClr val="F5960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, contrasted, and diligent logo that represents me. </a:t>
            </a:r>
            <a:endParaRPr sz="15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4572000" y="-125"/>
            <a:ext cx="4618800" cy="5143500"/>
          </a:xfrm>
          <a:prstGeom prst="rect">
            <a:avLst/>
          </a:prstGeom>
          <a:solidFill>
            <a:srgbClr val="FFD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7" title="Adob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3850" y="724200"/>
            <a:ext cx="3695100" cy="3695100"/>
          </a:xfrm>
          <a:prstGeom prst="rect">
            <a:avLst/>
          </a:prstGeom>
          <a:solidFill>
            <a:srgbClr val="FFF2FD"/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Appendix</a:t>
            </a:r>
            <a:endParaRPr b="1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ln cap="flat" cmpd="sng" w="19050">
            <a:solidFill>
              <a:srgbClr val="F596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erriweather Light"/>
                <a:ea typeface="Merriweather Light"/>
                <a:cs typeface="Merriweather Light"/>
                <a:sym typeface="Merriweather Light"/>
              </a:rPr>
              <a:t>ZOOM Transcripts</a:t>
            </a:r>
            <a:endParaRPr sz="2000"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Transcript 1: </a:t>
            </a:r>
            <a:r>
              <a:rPr lang="en" sz="1800" u="sng">
                <a:solidFill>
                  <a:schemeClr val="hlink"/>
                </a:solidFill>
                <a:latin typeface="Merriweather Light"/>
                <a:ea typeface="Merriweather Light"/>
                <a:cs typeface="Merriweather Light"/>
                <a:sym typeface="Merriweather Light"/>
                <a:hlinkClick r:id="rId3"/>
              </a:rPr>
              <a:t>Int. Writing and Design - Logo - Chloe Transcript</a:t>
            </a: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 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Transcript 2: </a:t>
            </a:r>
            <a:r>
              <a:rPr lang="en" sz="1800" u="sng">
                <a:solidFill>
                  <a:schemeClr val="hlink"/>
                </a:solidFill>
                <a:latin typeface="Merriweather Light"/>
                <a:ea typeface="Merriweather Light"/>
                <a:cs typeface="Merriweather Light"/>
                <a:sym typeface="Merriweather Light"/>
                <a:hlinkClick r:id="rId4"/>
              </a:rPr>
              <a:t>Int. Writing and Design - Logo - Allison Transcript</a:t>
            </a: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 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Transcript 3: </a:t>
            </a:r>
            <a:r>
              <a:rPr lang="en" sz="1800" u="sng">
                <a:solidFill>
                  <a:schemeClr val="hlink"/>
                </a:solidFill>
                <a:latin typeface="Merriweather Light"/>
                <a:ea typeface="Merriweather Light"/>
                <a:cs typeface="Merriweather Light"/>
                <a:sym typeface="Merriweather Light"/>
                <a:hlinkClick r:id="rId5"/>
              </a:rPr>
              <a:t>Int. Writing and Design - Logo - Mandy Transcript</a:t>
            </a: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 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04" name="Google Shape;104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ln cap="flat" cmpd="sng" w="19050">
            <a:solidFill>
              <a:srgbClr val="F596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Interview Script: </a:t>
            </a:r>
            <a:r>
              <a:rPr lang="en" sz="1800" u="sng">
                <a:solidFill>
                  <a:schemeClr val="hlink"/>
                </a:solidFill>
                <a:latin typeface="Merriweather Light"/>
                <a:ea typeface="Merriweather Light"/>
                <a:cs typeface="Merriweather Light"/>
                <a:sym typeface="Merriweather Light"/>
                <a:hlinkClick r:id="rId6"/>
              </a:rPr>
              <a:t>Int. Writing &amp; Design - Test Script</a:t>
            </a:r>
            <a:r>
              <a:rPr lang="en" sz="1800">
                <a:latin typeface="Merriweather Light"/>
                <a:ea typeface="Merriweather Light"/>
                <a:cs typeface="Merriweather Light"/>
                <a:sym typeface="Merriweather Light"/>
              </a:rPr>
              <a:t> </a:t>
            </a:r>
            <a:endParaRPr sz="18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